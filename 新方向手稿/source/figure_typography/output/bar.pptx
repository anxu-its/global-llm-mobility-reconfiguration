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b0035493874424" /><Relationship Type="http://schemas.openxmlformats.org/officeDocument/2006/relationships/extended-properties" Target="/docProps/app.xml" Id="R884c225d803e4bdd" /><Relationship Type="http://schemas.openxmlformats.org/officeDocument/2006/relationships/officeDocument" Target="/ppt/presentation.xml" Id="R5112126321b147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8ddaf29e974e22"/>
  </p:sldMasterIdLst>
  <p:notesMasterIdLst>
    <p:notesMasterId xmlns:r="http://schemas.openxmlformats.org/officeDocument/2006/relationships" r:id="R366b8dcc5e4c4461"/>
  </p:notesMasterIdLst>
  <p:sldIdLst>
    <p:sldId xmlns:r="http://schemas.openxmlformats.org/officeDocument/2006/relationships" id="256" r:id="R714e0df6a1a347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89560b12b641d2" /><Relationship Type="http://schemas.openxmlformats.org/officeDocument/2006/relationships/slideMaster" Target="/ppt/slideMasters/slideMaster1.xml" Id="R568ddaf29e974e22" /><Relationship Type="http://schemas.openxmlformats.org/officeDocument/2006/relationships/notesMaster" Target="/ppt/notesMasters/notesMaster1.xml" Id="R366b8dcc5e4c4461" /><Relationship Type="http://schemas.openxmlformats.org/officeDocument/2006/relationships/presProps" Target="/ppt/presProps.xml" Id="R5227b9d0a2df4b95" /><Relationship Type="http://schemas.openxmlformats.org/officeDocument/2006/relationships/tableStyles" Target="/ppt/tableStyles.xml" Id="Rdef4fa7882a34f4c" /><Relationship Type="http://schemas.openxmlformats.org/officeDocument/2006/relationships/slide" Target="/ppt/slides/slide1.xml" Id="R714e0df6a1a347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9235399bb548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>
        <a:latin typeface="Times New Roman"/>
        <a:ea typeface="Times New Roman"/>
        <a:cs typeface="Times New Roman"/>
      </a:defRPr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d86d5af0004943" /><Relationship Type="http://schemas.openxmlformats.org/officeDocument/2006/relationships/notesMaster" Target="/ppt/notesMasters/notesMaster1.xml" Id="R10778c10abfc42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3. E1 selective air support and incumbent cost. Every site–policy mean and existing 95% seed-block interval is retained: 240 runs and 20 seed blocks per site–policy. Bars start at zero. Source: figure_data.json, results.E1. Error bars are custom asymmetric intervals.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c210189d3145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4a3dfa210147d6" /><Relationship Type="http://schemas.openxmlformats.org/officeDocument/2006/relationships/slideLayout" Target="/ppt/slideLayouts/slideLayout1.xml" Id="Ref8deb032aab47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8deb032aab47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Times New Roman"/>
          <a:ea typeface="Times New Roman"/>
          <a:cs typeface="Times New Roman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Times New Roman"/>
          <a:ea typeface="Times New Roman"/>
          <a:cs typeface="Times New Roman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Times New Roman"/>
          <a:ea typeface="Times New Roman"/>
          <a:cs typeface="Times New Roman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Times New Roman"/>
          <a:ea typeface="Times New Roman"/>
          <a:cs typeface="Times New Roman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99431c7c4b4472" /><Relationship Type="http://schemas.openxmlformats.org/officeDocument/2006/relationships/chart" Target="/ppt/slides/charts/chart1.xml" Id="R9886f56930ab448b" /><Relationship Type="http://schemas.openxmlformats.org/officeDocument/2006/relationships/chart" Target="/ppt/slides/charts/chart2.xml" Id="Rb3329098e3494cd1" /><Relationship Type="http://schemas.openxmlformats.org/officeDocument/2006/relationships/chart" Target="/ppt/slides/charts/chart3.xml" Id="R01c23e59de24408b" /><Relationship Type="http://schemas.openxmlformats.org/officeDocument/2006/relationships/notesSlide" Target="/ppt/notesSlides/notesSlide1.xml" Id="R5e9a12ccc3924a6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wMode val="factor"/>
          <c:hMode val="factor"/>
          <c:x val=".19"/>
          <c:y val=".06"/>
          <c:w val=".76"/>
          <c:h val=".82"/>
        </c:manualLayout>
      </c:layout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2878B5"/>
            </a:solidFill>
            <a:ln xmlns:a="http://schemas.openxmlformats.org/drawingml/2006/main" w="6191">
              <a:solidFill>
                <a:srgbClr val="343434"/>
              </a:solidFill>
            </a:ln>
          </c:spP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plus>
            <c:min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minus>
            <c:spPr>
              <ns1:ln xmlns:ns1="http://schemas.openxmlformats.org/drawingml/2006/main" w="12700">
                <ns1:solidFill>
                  <ns1:srgbClr val="222222"/>
                </ns1:solidFill>
              </ns1:ln>
            </c:spPr>
          </c:errBars>
          <c:cat>
            <c:strRef>
              <c:f>'Chart Data'!$A$2:$A$4</c:f>
              <c:strCache>
                <c:ptCount val="3"/>
                <c:pt idx="0">
                  <c:v>Site A</c:v>
                </c:pt>
                <c:pt idx="1">
                  <c:v>Site B</c:v>
                </c:pt>
                <c:pt idx="2">
                  <c:v>Site C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187.66666667</c:v>
                </c:pt>
                <c:pt idx="1">
                  <c:v>262.66666667</c:v>
                </c:pt>
                <c:pt idx="2">
                  <c:v>323.66666667</c:v>
                </c:pt>
              </c:numCache>
            </c:numRef>
          </c: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F28E2B"/>
            </a:solidFill>
            <a:ln xmlns:a="http://schemas.openxmlformats.org/drawingml/2006/main" w="6191">
              <a:solidFill>
                <a:srgbClr val="343434"/>
              </a:solidFill>
            </a:ln>
          </c:spP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1.64678044</c:v>
                </c:pt>
                <c:pt idx="1">
                  <c:v>1.21332702</c:v>
                </c:pt>
                <c:pt idx="2">
                  <c:v>2.95947178</c:v>
                </c:pt>
              </c:numLit>
            </c:plus>
            <c:minus>
              <c:numLit>
                <c:formatCode>General</c:formatCode>
                <c:ptCount val="3"/>
                <c:pt idx="0">
                  <c:v>1.64678044</c:v>
                </c:pt>
                <c:pt idx="1">
                  <c:v>1.21332702</c:v>
                </c:pt>
                <c:pt idx="2">
                  <c:v>2.95947178</c:v>
                </c:pt>
              </c:numLit>
            </c:minus>
            <c:spPr>
              <ns1:ln xmlns:ns1="http://schemas.openxmlformats.org/drawingml/2006/main" w="12700">
                <ns1:solidFill>
                  <ns1:srgbClr val="222222"/>
                </ns1:solidFill>
              </ns1:ln>
            </c:spPr>
          </c:errBars>
          <c:cat>
            <c:strRef>
              <c:f>'Chart Data'!$C$2:$C$4</c:f>
              <c:strCache>
                <c:ptCount val="3"/>
                <c:pt idx="0">
                  <c:v>Site A</c:v>
                </c:pt>
                <c:pt idx="1">
                  <c:v>Site B</c:v>
                </c:pt>
                <c:pt idx="2">
                  <c:v>Site C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160.775</c:v>
                </c:pt>
                <c:pt idx="1">
                  <c:v>47.7</c:v>
                </c:pt>
                <c:pt idx="2">
                  <c:v>168.275</c:v>
                </c:pt>
              </c:numCache>
            </c:numRef>
          </c: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20A387"/>
            </a:solidFill>
            <a:ln xmlns:a="http://schemas.openxmlformats.org/drawingml/2006/main" w="6191">
              <a:solidFill>
                <a:srgbClr val="343434"/>
              </a:solidFill>
            </a:ln>
          </c:spP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0.41936911</c:v>
                </c:pt>
                <c:pt idx="1">
                  <c:v>1.21332702</c:v>
                </c:pt>
                <c:pt idx="2">
                  <c:v>2.95947178</c:v>
                </c:pt>
              </c:numLit>
            </c:plus>
            <c:minus>
              <c:numLit>
                <c:formatCode>General</c:formatCode>
                <c:ptCount val="3"/>
                <c:pt idx="0">
                  <c:v>0.41936911</c:v>
                </c:pt>
                <c:pt idx="1">
                  <c:v>1.21332702</c:v>
                </c:pt>
                <c:pt idx="2">
                  <c:v>2.95947178</c:v>
                </c:pt>
              </c:numLit>
            </c:minus>
            <c:spPr>
              <ns1:ln xmlns:ns1="http://schemas.openxmlformats.org/drawingml/2006/main" w="12700">
                <ns1:solidFill>
                  <ns1:srgbClr val="222222"/>
                </ns1:solidFill>
              </ns1:ln>
            </c:spPr>
          </c:errBars>
          <c:cat>
            <c:strRef>
              <c:f>'Chart Data'!$E$2:$E$4</c:f>
              <c:strCache>
                <c:ptCount val="3"/>
                <c:pt idx="0">
                  <c:v>Site A</c:v>
                </c:pt>
                <c:pt idx="1">
                  <c:v>Site B</c:v>
                </c:pt>
                <c:pt idx="2">
                  <c:v>Site C</c:v>
                </c:pt>
              </c:strCache>
            </c:strRef>
          </c:cat>
          <c:val>
            <c:numRef>
              <c:f>'Chart Data'!$F$2:$F$4</c:f>
              <c:numCache>
                <c:formatCode>0</c:formatCode>
                <c:ptCount val="3"/>
                <c:pt idx="0">
                  <c:v>147.61666667</c:v>
                </c:pt>
                <c:pt idx="1">
                  <c:v>47.7</c:v>
                </c:pt>
                <c:pt idx="2">
                  <c:v>168.275</c:v>
                </c:pt>
              </c:numCache>
            </c:numRef>
          </c: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9B4BD1"/>
            </a:solidFill>
            <a:ln xmlns:a="http://schemas.openxmlformats.org/drawingml/2006/main" w="6191">
              <a:solidFill>
                <a:srgbClr val="343434"/>
              </a:solidFill>
            </a:ln>
          </c:spP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0.75035246</c:v>
                </c:pt>
                <c:pt idx="1">
                  <c:v>2.06949348</c:v>
                </c:pt>
                <c:pt idx="2">
                  <c:v>3.06813039</c:v>
                </c:pt>
              </c:numLit>
            </c:plus>
            <c:minus>
              <c:numLit>
                <c:formatCode>General</c:formatCode>
                <c:ptCount val="3"/>
                <c:pt idx="0">
                  <c:v>0.75035246</c:v>
                </c:pt>
                <c:pt idx="1">
                  <c:v>2.06949348</c:v>
                </c:pt>
                <c:pt idx="2">
                  <c:v>3.06813039</c:v>
                </c:pt>
              </c:numLit>
            </c:minus>
            <c:spPr>
              <ns1:ln xmlns:ns1="http://schemas.openxmlformats.org/drawingml/2006/main" w="12700">
                <ns1:solidFill>
                  <ns1:srgbClr val="222222"/>
                </ns1:solidFill>
              </ns1:ln>
            </c:spPr>
          </c:errBars>
          <c:cat>
            <c:strRef>
              <c:f>'Chart Data'!$G$2:$G$4</c:f>
              <c:strCache>
                <c:ptCount val="3"/>
                <c:pt idx="0">
                  <c:v>Site A</c:v>
                </c:pt>
                <c:pt idx="1">
                  <c:v>Site B</c:v>
                </c:pt>
                <c:pt idx="2">
                  <c:v>Site C</c:v>
                </c:pt>
              </c:strCache>
            </c:strRef>
          </c:cat>
          <c:val>
            <c:numRef>
              <c:f>'Chart Data'!$H$2:$H$4</c:f>
              <c:numCache>
                <c:formatCode>0</c:formatCode>
                <c:ptCount val="3"/>
                <c:pt idx="0">
                  <c:v>146.63333333</c:v>
                </c:pt>
                <c:pt idx="1">
                  <c:v>49.09583333</c:v>
                </c:pt>
                <c:pt idx="2">
                  <c:v>168.65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30303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360"/>
          <c:min val="0"/>
        </c:scaling>
        <c:delete val="0"/>
        <c:axPos val="l"/>
        <c:majorGridlines>
          <c:spPr>
            <a:ln xmlns:a="http://schemas.openxmlformats.org/drawingml/2006/main" w="6191">
              <a:solidFill>
                <a:srgbClr val="E2E2E2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11430">
            <a:solidFill>
              <a:srgbClr val="30303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120"/>
      </c:valAx>
      <c:spPr>
        <a:solidFill xmlns:a="http://schemas.openxmlformats.org/drawingml/2006/main">
          <a:srgbClr val="FFFFFF"/>
        </a:solidFill>
        <a:ln xmlns:a="http://schemas.openxmlformats.org/drawingml/2006/main" w="11430">
          <a:solidFill>
            <a:srgbClr val="303030"/>
          </a:solidFill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wMode val="factor"/>
          <c:hMode val="factor"/>
          <c:x val=".19"/>
          <c:y val=".06"/>
          <c:w val=".76"/>
          <c:h val=".82"/>
        </c:manualLayout>
      </c:layout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2878B5"/>
            </a:solidFill>
            <a:ln xmlns:a="http://schemas.openxmlformats.org/drawingml/2006/main" w="6191">
              <a:solidFill>
                <a:srgbClr val="343434"/>
              </a:solidFill>
            </a:ln>
          </c:spP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plus>
            <c:min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minus>
            <c:spPr>
              <ns1:ln xmlns:ns1="http://schemas.openxmlformats.org/drawingml/2006/main" w="12700">
                <ns1:solidFill>
                  <ns1:srgbClr val="222222"/>
                </ns1:solidFill>
              </ns1:ln>
            </c:spPr>
          </c:errBars>
          <c:cat>
            <c:strRef>
              <c:f>'Chart Data'!$A$2:$A$4</c:f>
              <c:strCache>
                <c:ptCount val="3"/>
                <c:pt idx="0">
                  <c:v>Site A</c:v>
                </c:pt>
                <c:pt idx="1">
                  <c:v>Site B</c:v>
                </c:pt>
                <c:pt idx="2">
                  <c:v>Site C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33.33333333</c:v>
                </c:pt>
                <c:pt idx="1">
                  <c:v>50</c:v>
                </c:pt>
                <c:pt idx="2">
                  <c:v>83.33333333</c:v>
                </c:pt>
              </c:numCache>
            </c:numRef>
          </c: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F28E2B"/>
            </a:solidFill>
            <a:ln xmlns:a="http://schemas.openxmlformats.org/drawingml/2006/main" w="6191">
              <a:solidFill>
                <a:srgbClr val="343434"/>
              </a:solidFill>
            </a:ln>
          </c:spP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5.8808899</c:v>
                </c:pt>
              </c:numLit>
            </c:plus>
            <c:min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5.8808899</c:v>
                </c:pt>
              </c:numLit>
            </c:minus>
            <c:spPr>
              <ns1:ln xmlns:ns1="http://schemas.openxmlformats.org/drawingml/2006/main" w="12700">
                <ns1:solidFill>
                  <ns1:srgbClr val="222222"/>
                </ns1:solidFill>
              </ns1:ln>
            </c:spPr>
          </c:errBars>
          <c:cat>
            <c:strRef>
              <c:f>'Chart Data'!$C$2:$C$4</c:f>
              <c:strCache>
                <c:ptCount val="3"/>
                <c:pt idx="0">
                  <c:v>Site A</c:v>
                </c:pt>
                <c:pt idx="1">
                  <c:v>Site B</c:v>
                </c:pt>
                <c:pt idx="2">
                  <c:v>Site C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25</c:v>
                </c:pt>
                <c:pt idx="1">
                  <c:v>0</c:v>
                </c:pt>
                <c:pt idx="2">
                  <c:v>10</c:v>
                </c:pt>
              </c:numCache>
            </c:numRef>
          </c: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20A387"/>
            </a:solidFill>
            <a:ln xmlns:a="http://schemas.openxmlformats.org/drawingml/2006/main" w="6191">
              <a:solidFill>
                <a:srgbClr val="343434"/>
              </a:solidFill>
            </a:ln>
          </c:spP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5.8808899</c:v>
                </c:pt>
              </c:numLit>
            </c:plus>
            <c:min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5.8808899</c:v>
                </c:pt>
              </c:numLit>
            </c:minus>
            <c:spPr>
              <ns1:ln xmlns:ns1="http://schemas.openxmlformats.org/drawingml/2006/main" w="12700">
                <ns1:solidFill>
                  <ns1:srgbClr val="222222"/>
                </ns1:solidFill>
              </ns1:ln>
            </c:spPr>
          </c:errBars>
          <c:cat>
            <c:strRef>
              <c:f>'Chart Data'!$E$2:$E$4</c:f>
              <c:strCache>
                <c:ptCount val="3"/>
                <c:pt idx="0">
                  <c:v>Site A</c:v>
                </c:pt>
                <c:pt idx="1">
                  <c:v>Site B</c:v>
                </c:pt>
                <c:pt idx="2">
                  <c:v>Site C</c:v>
                </c:pt>
              </c:strCache>
            </c:strRef>
          </c:cat>
          <c:val>
            <c:numRef>
              <c:f>'Chart Data'!$F$2:$F$4</c:f>
              <c:numCache>
                <c:formatCode>0</c:formatCode>
                <c:ptCount val="3"/>
                <c:pt idx="0">
                  <c:v>16.66666667</c:v>
                </c:pt>
                <c:pt idx="1">
                  <c:v>0</c:v>
                </c:pt>
                <c:pt idx="2">
                  <c:v>10</c:v>
                </c:pt>
              </c:numCache>
            </c:numRef>
          </c: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9B4BD1"/>
            </a:solidFill>
            <a:ln xmlns:a="http://schemas.openxmlformats.org/drawingml/2006/main" w="6191">
              <a:solidFill>
                <a:srgbClr val="343434"/>
              </a:solidFill>
            </a:ln>
          </c:spP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5.8808899</c:v>
                </c:pt>
              </c:numLit>
            </c:plus>
            <c:min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5.8808899</c:v>
                </c:pt>
              </c:numLit>
            </c:minus>
            <c:spPr>
              <ns1:ln xmlns:ns1="http://schemas.openxmlformats.org/drawingml/2006/main" w="12700">
                <ns1:solidFill>
                  <ns1:srgbClr val="222222"/>
                </ns1:solidFill>
              </ns1:ln>
            </c:spPr>
          </c:errBars>
          <c:cat>
            <c:strRef>
              <c:f>'Chart Data'!$G$2:$G$4</c:f>
              <c:strCache>
                <c:ptCount val="3"/>
                <c:pt idx="0">
                  <c:v>Site A</c:v>
                </c:pt>
                <c:pt idx="1">
                  <c:v>Site B</c:v>
                </c:pt>
                <c:pt idx="2">
                  <c:v>Site C</c:v>
                </c:pt>
              </c:strCache>
            </c:strRef>
          </c:cat>
          <c:val>
            <c:numRef>
              <c:f>'Chart Data'!$H$2:$H$4</c:f>
              <c:numCache>
                <c:formatCode>0</c:formatCode>
                <c:ptCount val="3"/>
                <c:pt idx="0">
                  <c:v>16.66666667</c:v>
                </c:pt>
                <c:pt idx="1">
                  <c:v>0</c:v>
                </c:pt>
                <c:pt idx="2">
                  <c:v>10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30303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6191">
              <a:solidFill>
                <a:srgbClr val="E2E2E2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11430">
            <a:solidFill>
              <a:srgbClr val="30303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11430">
          <a:solidFill>
            <a:srgbClr val="303030"/>
          </a:solidFill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wMode val="factor"/>
          <c:hMode val="factor"/>
          <c:x val=".19"/>
          <c:y val=".06"/>
          <c:w val=".76"/>
          <c:h val=".82"/>
        </c:manualLayout>
      </c:layout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2878B5"/>
            </a:solidFill>
            <a:ln xmlns:a="http://schemas.openxmlformats.org/drawingml/2006/main" w="6191">
              <a:solidFill>
                <a:srgbClr val="343434"/>
              </a:solidFill>
            </a:ln>
          </c:spP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plus>
            <c:min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minus>
            <c:spPr>
              <ns1:ln xmlns:ns1="http://schemas.openxmlformats.org/drawingml/2006/main" w="12700">
                <ns1:solidFill>
                  <ns1:srgbClr val="222222"/>
                </ns1:solidFill>
              </ns1:ln>
            </c:spPr>
          </c:errBars>
          <c:cat>
            <c:strRef>
              <c:f>'Chart Data'!$A$2:$A$4</c:f>
              <c:strCache>
                <c:ptCount val="3"/>
                <c:pt idx="0">
                  <c:v>Site A</c:v>
                </c:pt>
                <c:pt idx="1">
                  <c:v>Site B</c:v>
                </c:pt>
                <c:pt idx="2">
                  <c:v>Site C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F28E2B"/>
            </a:solidFill>
            <a:ln xmlns:a="http://schemas.openxmlformats.org/drawingml/2006/main" w="6191">
              <a:solidFill>
                <a:srgbClr val="343434"/>
              </a:solidFill>
            </a:ln>
          </c:spP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plus>
            <c:min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minus>
            <c:spPr>
              <ns1:ln xmlns:ns1="http://schemas.openxmlformats.org/drawingml/2006/main" w="12700">
                <ns1:solidFill>
                  <ns1:srgbClr val="222222"/>
                </ns1:solidFill>
              </ns1:ln>
            </c:spPr>
          </c:errBars>
          <c:cat>
            <c:strRef>
              <c:f>'Chart Data'!$C$2:$C$4</c:f>
              <c:strCache>
                <c:ptCount val="3"/>
                <c:pt idx="0">
                  <c:v>Site A</c:v>
                </c:pt>
                <c:pt idx="1">
                  <c:v>Site B</c:v>
                </c:pt>
                <c:pt idx="2">
                  <c:v>Site C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</c:numCache>
            </c:numRef>
          </c: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20A387"/>
            </a:solidFill>
            <a:ln xmlns:a="http://schemas.openxmlformats.org/drawingml/2006/main" w="6191">
              <a:solidFill>
                <a:srgbClr val="343434"/>
              </a:solidFill>
            </a:ln>
          </c:spP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0.0183369</c:v>
                </c:pt>
                <c:pt idx="1">
                  <c:v>0</c:v>
                </c:pt>
                <c:pt idx="2">
                  <c:v>0</c:v>
                </c:pt>
              </c:numLit>
            </c:plus>
            <c:minus>
              <c:numLit>
                <c:formatCode>General</c:formatCode>
                <c:ptCount val="3"/>
                <c:pt idx="0">
                  <c:v>0.0183369</c:v>
                </c:pt>
                <c:pt idx="1">
                  <c:v>0</c:v>
                </c:pt>
                <c:pt idx="2">
                  <c:v>0</c:v>
                </c:pt>
              </c:numLit>
            </c:minus>
            <c:spPr>
              <ns1:ln xmlns:ns1="http://schemas.openxmlformats.org/drawingml/2006/main" w="12700">
                <ns1:solidFill>
                  <ns1:srgbClr val="222222"/>
                </ns1:solidFill>
              </ns1:ln>
            </c:spPr>
          </c:errBars>
          <c:cat>
            <c:strRef>
              <c:f>'Chart Data'!$E$2:$E$4</c:f>
              <c:strCache>
                <c:ptCount val="3"/>
                <c:pt idx="0">
                  <c:v>Site A</c:v>
                </c:pt>
                <c:pt idx="1">
                  <c:v>Site B</c:v>
                </c:pt>
                <c:pt idx="2">
                  <c:v>Site C</c:v>
                </c:pt>
              </c:strCache>
            </c:strRef>
          </c:cat>
          <c:val>
            <c:numRef>
              <c:f>'Chart Data'!$F$2:$F$4</c:f>
              <c:numCache>
                <c:formatCode>0.0</c:formatCode>
                <c:ptCount val="3"/>
                <c:pt idx="0">
                  <c:v>0.05833333</c:v>
                </c:pt>
                <c:pt idx="1">
                  <c:v>0.5</c:v>
                </c:pt>
                <c:pt idx="2">
                  <c:v>0.5</c:v>
                </c:pt>
              </c:numCache>
            </c:numRef>
          </c: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9B4BD1"/>
            </a:solidFill>
            <a:ln xmlns:a="http://schemas.openxmlformats.org/drawingml/2006/main" w="6191">
              <a:solidFill>
                <a:srgbClr val="343434"/>
              </a:solidFill>
            </a:ln>
          </c:spP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0.01960297</c:v>
                </c:pt>
                <c:pt idx="1">
                  <c:v>0.01428799</c:v>
                </c:pt>
                <c:pt idx="2">
                  <c:v>0</c:v>
                </c:pt>
              </c:numLit>
            </c:plus>
            <c:minus>
              <c:numLit>
                <c:formatCode>General</c:formatCode>
                <c:ptCount val="3"/>
                <c:pt idx="0">
                  <c:v>0.01960297</c:v>
                </c:pt>
                <c:pt idx="1">
                  <c:v>0.01428799</c:v>
                </c:pt>
                <c:pt idx="2">
                  <c:v>0</c:v>
                </c:pt>
              </c:numLit>
            </c:minus>
            <c:spPr>
              <ns1:ln xmlns:ns1="http://schemas.openxmlformats.org/drawingml/2006/main" w="12700">
                <ns1:solidFill>
                  <ns1:srgbClr val="222222"/>
                </ns1:solidFill>
              </ns1:ln>
            </c:spPr>
          </c:errBars>
          <c:cat>
            <c:strRef>
              <c:f>'Chart Data'!$G$2:$G$4</c:f>
              <c:strCache>
                <c:ptCount val="3"/>
                <c:pt idx="0">
                  <c:v>Site A</c:v>
                </c:pt>
                <c:pt idx="1">
                  <c:v>Site B</c:v>
                </c:pt>
                <c:pt idx="2">
                  <c:v>Site C</c:v>
                </c:pt>
              </c:strCache>
            </c:strRef>
          </c:cat>
          <c:val>
            <c:numRef>
              <c:f>'Chart Data'!$H$2:$H$4</c:f>
              <c:numCache>
                <c:formatCode>0.0</c:formatCode>
                <c:ptCount val="3"/>
                <c:pt idx="0">
                  <c:v>0.13333333</c:v>
                </c:pt>
                <c:pt idx="1">
                  <c:v>0.4875</c:v>
                </c:pt>
                <c:pt idx="2">
                  <c:v>0.5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30303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0.6"/>
          <c:min val="0"/>
        </c:scaling>
        <c:delete val="0"/>
        <c:axPos val="l"/>
        <c:majorGridlines>
          <c:spPr>
            <a:ln xmlns:a="http://schemas.openxmlformats.org/drawingml/2006/main" w="6191">
              <a:solidFill>
                <a:srgbClr val="E2E2E2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11430">
            <a:solidFill>
              <a:srgbClr val="30303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11430">
          <a:solidFill>
            <a:srgbClr val="303030"/>
          </a:solidFill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2E14D9-3218-4E1B-966A-FB9E30F3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19075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B65C1D-DDA3-45F6-ABBC-3ADFBA1C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Completion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93E513-6AFB-408A-8A74-A40F9DE0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335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Time (s)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190500" y="1171575"/>
          <a:ext xmlns:a="http://schemas.openxmlformats.org/drawingml/2006/main" cx="3867150" cy="4638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886f56930ab448b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1F66B0-E7F5-49FC-A444-E29A7092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19075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2A6C1D-0795-4D10-870B-3B54E51E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1907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Missed deadlines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C0CBDB-9A39-40F6-800F-966C4012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742950"/>
            <a:ext cx="335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Runs (%)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4162425" y="1171575"/>
          <a:ext xmlns:a="http://schemas.openxmlformats.org/drawingml/2006/main" cx="3867150" cy="4638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3329098e3494cd1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621EC2-BBFC-4318-82A3-5DAE2CBD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9075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9C591A-998E-47B9-A6DD-E96D9E12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907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Incumbent damage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608F1F-F1F0-4D55-B194-CF793624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742950"/>
            <a:ext cx="335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Damaged services / run</a:t>
            </a:r>
          </a:p>
        </p:txBody>
      </p:sp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8134350" y="1171575"/>
          <a:ext xmlns:a="http://schemas.openxmlformats.org/drawingml/2006/main" cx="3867150" cy="4638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1c23e59de24408b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B55A02-B676-4AD8-B5F5-CFE6BAD4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62388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6191">
            <a:solidFill>
              <a:srgbClr val="34343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C47323-2884-4ADC-9127-9751B029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613410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B0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111D2F-76D1-4D83-BCD7-55C30269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2388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6191">
            <a:solidFill>
              <a:srgbClr val="34343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94D8B5-888F-44BE-A325-D284A4E3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613410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B1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A1BCE6-69ED-4EB7-9A9F-436B0596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62388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387"/>
          </a:solidFill>
          <a:ln xmlns:a="http://schemas.openxmlformats.org/drawingml/2006/main" w="6191">
            <a:solidFill>
              <a:srgbClr val="34343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3E1B90-D04E-4510-9AB1-127D78BF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613410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B2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8E918B-92A0-43AC-8EE5-D323B629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2388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4BD1"/>
          </a:solidFill>
          <a:ln xmlns:a="http://schemas.openxmlformats.org/drawingml/2006/main" w="6191">
            <a:solidFill>
              <a:srgbClr val="34343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37DE45-E0D8-42C8-8162-DA850499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613410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B4b</a:t>
            </a:r>
          </a:p>
        </p:txBody>
      </p:sp>
    </p:spTree>
    <p:extLst>
      <p:ext uri="{BB962C8B-B14F-4D97-AF65-F5344CB8AC3E}">
        <p14:creationId xmlns:p14="http://schemas.microsoft.com/office/powerpoint/2010/main" val="21452101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2026-09-12T15:12:57.1520000Z</dcterms:created>
  <dcterms:modified xsi:type="dcterms:W3CDTF">2026-09-12T15:12:57.1520000Z</dcterms:modified>
</coreProperties>
</file>